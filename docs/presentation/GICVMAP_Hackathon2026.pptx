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image" Target="../media/image-8-5.png"/><Relationship Id="rId9" Type="http://schemas.openxmlformats.org/officeDocument/2006/relationships/image" Target="../media/image-8-5.png"/><Relationship Id="rId10" Type="http://schemas.openxmlformats.org/officeDocument/2006/relationships/image" Target="../media/image-8-5.png"/><Relationship Id="rId11" Type="http://schemas.openxmlformats.org/officeDocument/2006/relationships/image" Target="../media/image-8-5.png"/><Relationship Id="rId12" Type="http://schemas.openxmlformats.org/officeDocument/2006/relationships/image" Target="../media/image-8-5.png"/><Relationship Id="rId13" Type="http://schemas.openxmlformats.org/officeDocument/2006/relationships/image" Target="../media/image-8-5.png"/><Relationship Id="rId14" Type="http://schemas.openxmlformats.org/officeDocument/2006/relationships/image" Target="../media/image-8-5.png"/><Relationship Id="rId15" Type="http://schemas.openxmlformats.org/officeDocument/2006/relationships/image" Target="../media/image-8-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914400"/>
            <a:ext cx="5120640" cy="5120640"/>
          </a:xfrm>
          <a:prstGeom prst="ellipse">
            <a:avLst/>
          </a:prstGeom>
          <a:solidFill>
            <a:srgbClr val="2DE0FF">
              <a:alpha val="4000"/>
            </a:srgbClr>
          </a:solidFill>
          <a:ln w="12700">
            <a:solidFill>
              <a:srgbClr val="22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1554480"/>
            <a:ext cx="2103120" cy="-27432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10607040" y="1280160"/>
            <a:ext cx="-914400" cy="137160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9692640" y="2651760"/>
            <a:ext cx="1554480" cy="36576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11247120" y="3017520"/>
            <a:ext cx="-2468880" cy="73152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8778240" y="3749040"/>
            <a:ext cx="1554480" cy="64008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10332720" y="4389120"/>
            <a:ext cx="-1097280" cy="100584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9235440" y="5394960"/>
            <a:ext cx="1828800" cy="-27432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11064240" y="5120640"/>
            <a:ext cx="-2926080" cy="-237744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8138160" y="2743200"/>
            <a:ext cx="365760" cy="-1188720"/>
          </a:xfrm>
          <a:prstGeom prst="line">
            <a:avLst/>
          </a:prstGeom>
          <a:noFill/>
          <a:ln w="9525">
            <a:solidFill>
              <a:srgbClr val="2DE0FF">
                <a:alpha val="4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8311896" y="1362456"/>
            <a:ext cx="384048" cy="384048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15" name="Image 0" descr="D:\projects\gujratinnovation\docs\presentation\icon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6387" y="1446947"/>
            <a:ext cx="215067" cy="21506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469880" y="114300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17" name="Image 1" descr="D:\projects\gujratinnovation\docs\presentation\icons\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230" y="1203350"/>
            <a:ext cx="153619" cy="15361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55480" y="251460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19" name="Image 2" descr="D:\projects\gujratinnovation\docs\presentation\icons\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0" y="2574950"/>
            <a:ext cx="153619" cy="15361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1055096" y="2825496"/>
            <a:ext cx="384048" cy="384048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21" name="Image 3" descr="D:\projects\gujratinnovation\docs\presentation\icons\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9587" y="2909987"/>
            <a:ext cx="215067" cy="21506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641080" y="361188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23" name="Image 4" descr="D:\projects\gujratinnovation\docs\presentation\icons\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430" y="3672230"/>
            <a:ext cx="153619" cy="15361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0195560" y="425196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25" name="Image 5" descr="D:\projects\gujratinnovation\docs\presentation\icons\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5910" y="4312310"/>
            <a:ext cx="153619" cy="153619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43416" y="5202936"/>
            <a:ext cx="384048" cy="384048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27" name="Image 6" descr="D:\projects\gujratinnovation\docs\presentation\icons\came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907" y="5287427"/>
            <a:ext cx="215067" cy="215067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10927080" y="498348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29" name="Image 7" descr="D:\projects\gujratinnovation\docs\presentation\icons\came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7430" y="5043830"/>
            <a:ext cx="153619" cy="153619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001000" y="2606040"/>
            <a:ext cx="274320" cy="274320"/>
          </a:xfrm>
          <a:prstGeom prst="ellipse">
            <a:avLst/>
          </a:prstGeom>
          <a:solidFill>
            <a:srgbClr val="132542"/>
          </a:solidFill>
          <a:ln w="15875">
            <a:solidFill>
              <a:srgbClr val="2DE0FF"/>
            </a:solidFill>
            <a:prstDash val="solid"/>
          </a:ln>
        </p:spPr>
      </p:sp>
      <p:pic>
        <p:nvPicPr>
          <p:cNvPr id="31" name="Image 8" descr="D:\projects\gujratinnovation\docs\presentation\icons\camer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1350" y="2666390"/>
            <a:ext cx="153619" cy="153619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9966960" y="2331720"/>
            <a:ext cx="868680" cy="5486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5D0A0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996696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0.94</a:t>
            </a:r>
            <a:endParaRPr lang="en-US" sz="700" dirty="0"/>
          </a:p>
        </p:txBody>
      </p:sp>
      <p:sp>
        <p:nvSpPr>
          <p:cNvPr id="34" name="Shape 23"/>
          <p:cNvSpPr/>
          <p:nvPr/>
        </p:nvSpPr>
        <p:spPr>
          <a:xfrm>
            <a:off x="8412480" y="3977640"/>
            <a:ext cx="640080" cy="7772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2DE0FF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8412480" y="37856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0.88</a:t>
            </a:r>
            <a:endParaRPr lang="en-US" sz="700" dirty="0"/>
          </a:p>
        </p:txBody>
      </p:sp>
      <p:sp>
        <p:nvSpPr>
          <p:cNvPr id="36" name="Shape 25"/>
          <p:cNvSpPr/>
          <p:nvPr/>
        </p:nvSpPr>
        <p:spPr>
          <a:xfrm>
            <a:off x="566928" y="502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2DE0FF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566928" y="502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INNOVATION HACKATHON 2026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548640" y="2331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GICVMAP</a:t>
            </a:r>
            <a:endParaRPr lang="en-US" sz="6400" dirty="0"/>
          </a:p>
        </p:txBody>
      </p:sp>
      <p:sp>
        <p:nvSpPr>
          <p:cNvPr id="39" name="Text 28"/>
          <p:cNvSpPr txBox="1"/>
          <p:nvPr/>
        </p:nvSpPr>
        <p:spPr>
          <a:xfrm>
            <a:off x="566928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Integrated CCTV Video Management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 Platform</a:t>
            </a:r>
            <a:endParaRPr lang="en-US" sz="1700" dirty="0"/>
          </a:p>
        </p:txBody>
      </p:sp>
      <p:sp>
        <p:nvSpPr>
          <p:cNvPr id="40" name="Shape 29"/>
          <p:cNvSpPr/>
          <p:nvPr/>
        </p:nvSpPr>
        <p:spPr>
          <a:xfrm>
            <a:off x="576072" y="4553712"/>
            <a:ext cx="1463040" cy="0"/>
          </a:xfrm>
          <a:prstGeom prst="line">
            <a:avLst/>
          </a:prstGeom>
          <a:noFill/>
          <a:ln w="25400">
            <a:solidFill>
              <a:srgbClr val="2DE0FF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548640" y="4681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"See. Think. Act."</a:t>
            </a:r>
            <a:endParaRPr lang="en-US" sz="2200" dirty="0"/>
          </a:p>
        </p:txBody>
      </p:sp>
      <p:sp>
        <p:nvSpPr>
          <p:cNvPr id="42" name="Text 31"/>
          <p:cNvSpPr txBox="1"/>
          <p:nvPr/>
        </p:nvSpPr>
        <p:spPr>
          <a:xfrm>
            <a:off x="566928" y="5175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CCTV intelligence for Gujarat Police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Sees Everything. But Who Has Time to Watch?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99339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0" name="Image 0" descr="D:\projects\gujratinnovation\docs\presentation\icons\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5023" y="2129455"/>
            <a:ext cx="294803" cy="29480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Surveillance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cameras operating without 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intelligence layer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8912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0116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20116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199339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7" name="Image 1" descr="D:\projects\gujratinnovation\docs\presentation\icons\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503" y="2129455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Investigation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CCTV review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hours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22960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03920" y="20116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503920" y="20116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0789920" y="199339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4" name="Image 2" descr="D:\projects\gujratinnovation\docs\presentation\icons\si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983" y="2129455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0392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Silos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and government departments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 isolated information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E1A2E">
              <a:alpha val="70000"/>
            </a:srgbClr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84870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5F7392"/>
            </a:solidFill>
            <a:prstDash val="solid"/>
          </a:ln>
        </p:spPr>
      </p:sp>
      <p:pic>
        <p:nvPicPr>
          <p:cNvPr id="29" name="Image 3" descr="D:\projects\gujratinnovation\docs\presentation\icons\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66" y="5088087"/>
            <a:ext cx="266273" cy="26627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6542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04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660942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32" name="Shape 26"/>
          <p:cNvSpPr/>
          <p:nvPr/>
        </p:nvSpPr>
        <p:spPr>
          <a:xfrm>
            <a:off x="2669395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5F7392"/>
            </a:solidFill>
            <a:prstDash val="solid"/>
          </a:ln>
        </p:spPr>
      </p:sp>
      <p:pic>
        <p:nvPicPr>
          <p:cNvPr id="33" name="Image 4" descr="D:\projects\gujratinnovation\docs\presentation\icons\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290" y="5088087"/>
            <a:ext cx="266273" cy="26627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331067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11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245467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36" name="Shape 29"/>
          <p:cNvSpPr/>
          <p:nvPr/>
        </p:nvSpPr>
        <p:spPr>
          <a:xfrm>
            <a:off x="4253919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5F7392"/>
            </a:solidFill>
            <a:prstDash val="solid"/>
          </a:ln>
        </p:spPr>
      </p:sp>
      <p:pic>
        <p:nvPicPr>
          <p:cNvPr id="37" name="Image 5" descr="D:\projects\gujratinnovation\docs\presentation\icons\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6815" y="5088087"/>
            <a:ext cx="266273" cy="26627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915591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22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829991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40" name="Shape 32"/>
          <p:cNvSpPr/>
          <p:nvPr/>
        </p:nvSpPr>
        <p:spPr>
          <a:xfrm>
            <a:off x="5838444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41" name="Image 6" descr="D:\projects\gujratinnovation\docs\presentation\icons\per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339" y="5088087"/>
            <a:ext cx="266273" cy="266273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500116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414516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44" name="Shape 35"/>
          <p:cNvSpPr/>
          <p:nvPr/>
        </p:nvSpPr>
        <p:spPr>
          <a:xfrm>
            <a:off x="7422969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45" name="Image 7" descr="D:\projects\gujratinnovation\docs\presentation\icons\sear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5864" y="5088087"/>
            <a:ext cx="266273" cy="266273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084641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999041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48" name="Shape 38"/>
          <p:cNvSpPr/>
          <p:nvPr/>
        </p:nvSpPr>
        <p:spPr>
          <a:xfrm>
            <a:off x="9007493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49" name="Image 8" descr="D:\projects\gujratinnovation\docs\presentation\icons\build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0389" y="5088087"/>
            <a:ext cx="266273" cy="266273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669165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Dept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9583565" y="5221224"/>
            <a:ext cx="944445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ysDash"/>
          </a:ln>
        </p:spPr>
      </p:sp>
      <p:sp>
        <p:nvSpPr>
          <p:cNvPr id="52" name="Shape 41"/>
          <p:cNvSpPr/>
          <p:nvPr/>
        </p:nvSpPr>
        <p:spPr>
          <a:xfrm>
            <a:off x="10592018" y="4965192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53" name="Image 9" descr="D:\projects\gujratinnovation\docs\presentation\icons\build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4913" y="5088087"/>
            <a:ext cx="266273" cy="266273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10253690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Video ≠ Actionable Intelligence</a:t>
            </a:r>
            <a:endParaRPr lang="en-US" sz="1900" dirty="0"/>
          </a:p>
        </p:txBody>
      </p:sp>
      <p:sp>
        <p:nvSpPr>
          <p:cNvPr id="56" name="Text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Three Actions.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70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→ THINK → 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11096" y="2075688"/>
            <a:ext cx="731520" cy="73152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9" name="Image 0" descr="D:\projects\gujratinnovation\docs\presentation\icons\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661" y="2251253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95351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4C7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1071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Video Intelligence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3813048"/>
            <a:ext cx="2542032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4050792"/>
            <a:ext cx="64008" cy="64008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394106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30-camera VideoWall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" y="4434840"/>
            <a:ext cx="64008" cy="64008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4325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HLS streams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" y="4818888"/>
            <a:ext cx="64008" cy="64008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47091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GIS map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1248" y="5202936"/>
            <a:ext cx="64008" cy="64008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50932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health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023360" y="3561588"/>
            <a:ext cx="219456" cy="146304"/>
          </a:xfrm>
          <a:prstGeom prst="rightArrow">
            <a:avLst/>
          </a:prstGeom>
          <a:solidFill>
            <a:srgbClr val="4C7C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261104" y="178308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23560" y="2075688"/>
            <a:ext cx="731520" cy="73152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4" name="Image 1" descr="D:\projects\gujratinnovation\docs\presentation\icons\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125" y="2251253"/>
            <a:ext cx="380390" cy="38039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261104" y="295351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4261104" y="341071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18304" y="3813048"/>
            <a:ext cx="2542032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553712" y="4050792"/>
            <a:ext cx="64008" cy="64008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718304" y="394106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53712" y="4434840"/>
            <a:ext cx="64008" cy="64008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718304" y="4325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license plate recognition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53712" y="4818888"/>
            <a:ext cx="64008" cy="64008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718304" y="47091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event streaming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553712" y="5202936"/>
            <a:ext cx="64008" cy="64008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718304" y="50932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matching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735824" y="3561588"/>
            <a:ext cx="219456" cy="146304"/>
          </a:xfrm>
          <a:prstGeom prst="rightArrow">
            <a:avLst/>
          </a:prstGeom>
          <a:solidFill>
            <a:srgbClr val="2DE0FF"/>
          </a:solidFill>
          <a:ln/>
        </p:spPr>
      </p:sp>
      <p:sp>
        <p:nvSpPr>
          <p:cNvPr id="37" name="Shape 33"/>
          <p:cNvSpPr/>
          <p:nvPr/>
        </p:nvSpPr>
        <p:spPr>
          <a:xfrm>
            <a:off x="7973568" y="178308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9336024" y="2075688"/>
            <a:ext cx="731520" cy="73152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39" name="Image 2" descr="D:\projects\gujratinnovation\docs\presentation\icons\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589" y="2251253"/>
            <a:ext cx="380390" cy="38039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973568" y="295351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7973568" y="341071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8430768" y="3813048"/>
            <a:ext cx="2542032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266176" y="4050792"/>
            <a:ext cx="64008" cy="64008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8430768" y="394106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266176" y="4434840"/>
            <a:ext cx="64008" cy="64008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8430768" y="4325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severity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8266176" y="4818888"/>
            <a:ext cx="64008" cy="64008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8430768" y="47091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notifications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266176" y="5202936"/>
            <a:ext cx="64008" cy="64008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430768" y="50932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search &amp; investigation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GICVMAP transforms CCTV from passive video into actionable intelligence.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Architecture — Built for Real-Time 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784080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2DE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0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DOCKER CONTAINERS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90A3C0"/>
            </a:solidFill>
            <a:prstDash val="solid"/>
          </a:ln>
        </p:spPr>
      </p:sp>
      <p:pic>
        <p:nvPicPr>
          <p:cNvPr id="10" name="Image 0" descr="D:\projects\gujratinnovation\docs\presentation\icon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303" y="1960839"/>
            <a:ext cx="266273" cy="26627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50049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13" name="Shape 10"/>
          <p:cNvSpPr/>
          <p:nvPr/>
        </p:nvSpPr>
        <p:spPr>
          <a:xfrm>
            <a:off x="2168652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98420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15" name="Image 1" descr="D:\projects\gujratinnovation\docs\presentation\icons\st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15" y="1960839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077212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MediaMTX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570061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18" name="Shape 14"/>
          <p:cNvSpPr/>
          <p:nvPr/>
        </p:nvSpPr>
        <p:spPr>
          <a:xfrm>
            <a:off x="3788664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18432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0" name="Image 2" descr="D:\projects\gujratinnovation\docs\presentation\icons\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27" y="1960839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697224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190073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23" name="Shape 18"/>
          <p:cNvSpPr/>
          <p:nvPr/>
        </p:nvSpPr>
        <p:spPr>
          <a:xfrm>
            <a:off x="5408676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38444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5" name="Image 3" descr="D:\projects\gujratinnovation\docs\presentation\icons\redi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339" y="1960839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17236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810085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28" name="Shape 22"/>
          <p:cNvSpPr/>
          <p:nvPr/>
        </p:nvSpPr>
        <p:spPr>
          <a:xfrm>
            <a:off x="7028688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58456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30" name="Image 4" descr="D:\projects\gujratinnovation\docs\presentation\icons\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351" y="1960839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37248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8430097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33" name="Shape 26"/>
          <p:cNvSpPr/>
          <p:nvPr/>
        </p:nvSpPr>
        <p:spPr>
          <a:xfrm>
            <a:off x="8648700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078468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35" name="Image 5" descr="D:\projects\gujratinnovation\docs\presentation\icons\webs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363" y="1960839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557260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10050109" y="2253996"/>
            <a:ext cx="188793" cy="109728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38" name="Shape 30"/>
          <p:cNvSpPr/>
          <p:nvPr/>
        </p:nvSpPr>
        <p:spPr>
          <a:xfrm>
            <a:off x="10268712" y="169164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698480" y="1837944"/>
            <a:ext cx="512064" cy="512064"/>
          </a:xfrm>
          <a:prstGeom prst="ellipse">
            <a:avLst/>
          </a:prstGeom>
          <a:solidFill>
            <a:srgbClr val="132542"/>
          </a:solidFill>
          <a:ln w="19050">
            <a:solidFill>
              <a:srgbClr val="35D0A0"/>
            </a:solidFill>
            <a:prstDash val="solid"/>
          </a:ln>
        </p:spPr>
      </p:sp>
      <p:pic>
        <p:nvPicPr>
          <p:cNvPr id="40" name="Image 6" descr="D:\projects\gujratinnovation\docs\presentation\icons\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1375" y="1960839"/>
            <a:ext cx="266273" cy="266273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177272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1894332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HLS · WebRTC</a:t>
            </a:r>
            <a:endParaRPr lang="en-US" sz="850" dirty="0"/>
          </a:p>
        </p:txBody>
      </p:sp>
      <p:sp>
        <p:nvSpPr>
          <p:cNvPr id="43" name="Text 34"/>
          <p:cNvSpPr txBox="1"/>
          <p:nvPr/>
        </p:nvSpPr>
        <p:spPr>
          <a:xfrm>
            <a:off x="3514344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· OpenCV</a:t>
            </a:r>
            <a:endParaRPr lang="en-US" sz="850" dirty="0"/>
          </a:p>
        </p:txBody>
      </p:sp>
      <p:sp>
        <p:nvSpPr>
          <p:cNvPr id="44" name="Text 35"/>
          <p:cNvSpPr txBox="1"/>
          <p:nvPr/>
        </p:nvSpPr>
        <p:spPr>
          <a:xfrm>
            <a:off x="5134356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detection_events</a:t>
            </a:r>
            <a:endParaRPr lang="en-US" sz="850" dirty="0"/>
          </a:p>
        </p:txBody>
      </p:sp>
      <p:sp>
        <p:nvSpPr>
          <p:cNvPr id="45" name="Text 36"/>
          <p:cNvSpPr txBox="1"/>
          <p:nvPr/>
        </p:nvSpPr>
        <p:spPr>
          <a:xfrm>
            <a:off x="6754368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 →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</a:t>
            </a:r>
            <a:endParaRPr lang="en-US" sz="850" dirty="0"/>
          </a:p>
        </p:txBody>
      </p:sp>
      <p:sp>
        <p:nvSpPr>
          <p:cNvPr id="46" name="Text 37"/>
          <p:cNvSpPr txBox="1"/>
          <p:nvPr/>
        </p:nvSpPr>
        <p:spPr>
          <a:xfrm>
            <a:off x="9994392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· HLS.js</a:t>
            </a:r>
            <a:endParaRPr lang="en-US" sz="850" dirty="0"/>
          </a:p>
        </p:txBody>
      </p:sp>
      <p:sp>
        <p:nvSpPr>
          <p:cNvPr id="47" name="Text 38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548640" y="4544568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0E1A2E">
              <a:alpha val="80000"/>
            </a:srgbClr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1346911" y="4782312"/>
            <a:ext cx="621792" cy="62179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0" name="Image 7" descr="D:\projects\gujratinnovation\docs\presentation\icons\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6141" y="4931542"/>
            <a:ext cx="323332" cy="323332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743407" y="5458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</a:t>
            </a:r>
            <a:endParaRPr lang="en-US" sz="1050" dirty="0"/>
          </a:p>
        </p:txBody>
      </p:sp>
      <p:sp>
        <p:nvSpPr>
          <p:cNvPr id="52" name="Shape 42"/>
          <p:cNvSpPr/>
          <p:nvPr/>
        </p:nvSpPr>
        <p:spPr>
          <a:xfrm>
            <a:off x="3565246" y="4782312"/>
            <a:ext cx="621792" cy="62179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3" name="Image 8" descr="D:\projects\gujratinnovation\docs\presentation\icons\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476" y="4931542"/>
            <a:ext cx="323332" cy="323332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2961742" y="5458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55" name="Shape 44"/>
          <p:cNvSpPr/>
          <p:nvPr/>
        </p:nvSpPr>
        <p:spPr>
          <a:xfrm>
            <a:off x="5783580" y="4782312"/>
            <a:ext cx="621792" cy="62179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6" name="Image 9" descr="D:\projects\gujratinnovation\docs\presentation\icons\serv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2810" y="4931542"/>
            <a:ext cx="323332" cy="3233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5180076" y="5458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8001914" y="4782312"/>
            <a:ext cx="621792" cy="62179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9" name="Image 10" descr="D:\projects\gujratinnovation\docs\presentation\icons\netwo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1144" y="4931542"/>
            <a:ext cx="323332" cy="323332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7398410" y="5458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050" dirty="0"/>
          </a:p>
        </p:txBody>
      </p:sp>
      <p:sp>
        <p:nvSpPr>
          <p:cNvPr id="61" name="Shape 48"/>
          <p:cNvSpPr/>
          <p:nvPr/>
        </p:nvSpPr>
        <p:spPr>
          <a:xfrm>
            <a:off x="10220249" y="4782312"/>
            <a:ext cx="621792" cy="62179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62" name="Image 11" descr="D:\projects\gujratinnovation\docs\presentation\icons\dock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9479" y="4931542"/>
            <a:ext cx="323332" cy="323332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616745" y="5458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50" dirty="0"/>
          </a:p>
        </p:txBody>
      </p:sp>
      <p:sp>
        <p:nvSpPr>
          <p:cNvPr id="64" name="Text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65" name="Text 51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30552" cy="4114800"/>
          </a:xfrm>
          <a:prstGeom prst="roundRect">
            <a:avLst>
              <a:gd name="adj" fmla="val 42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2130552" cy="457200"/>
          </a:xfrm>
          <a:prstGeom prst="roundRect">
            <a:avLst>
              <a:gd name="adj" fmla="val 20000"/>
            </a:avLst>
          </a:prstGeom>
          <a:solidFill>
            <a:srgbClr val="4C7CF0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2585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25496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254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392424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392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959352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95935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526280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5262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48356" y="1600200"/>
            <a:ext cx="2130552" cy="4114800"/>
          </a:xfrm>
          <a:prstGeom prst="roundRect">
            <a:avLst>
              <a:gd name="adj" fmla="val 42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48356" y="1600200"/>
            <a:ext cx="2130552" cy="457200"/>
          </a:xfrm>
          <a:prstGeom prst="roundRect">
            <a:avLst>
              <a:gd name="adj" fmla="val 20000"/>
            </a:avLst>
          </a:prstGeom>
          <a:solidFill>
            <a:srgbClr val="2DE0FF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85516" y="16002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85516" y="225856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4388" y="22585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85516" y="2825496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4388" y="28254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85516" y="3392424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04388" y="3392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85516" y="3959352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04388" y="395935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85516" y="4526280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04388" y="45262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hls.js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85516" y="509320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04388" y="509320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48072" y="1600200"/>
            <a:ext cx="2130552" cy="4114800"/>
          </a:xfrm>
          <a:prstGeom prst="roundRect">
            <a:avLst>
              <a:gd name="adj" fmla="val 42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48072" y="1600200"/>
            <a:ext cx="2130552" cy="457200"/>
          </a:xfrm>
          <a:prstGeom prst="roundRect">
            <a:avLst>
              <a:gd name="adj" fmla="val 20000"/>
            </a:avLst>
          </a:prstGeom>
          <a:solidFill>
            <a:srgbClr val="35D0A0">
              <a:alpha val="15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285232" y="16002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85232" y="225856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04104" y="22585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85232" y="2825496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04104" y="28254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85232" y="3392424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04104" y="3392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47788" y="1600200"/>
            <a:ext cx="2130552" cy="4114800"/>
          </a:xfrm>
          <a:prstGeom prst="roundRect">
            <a:avLst>
              <a:gd name="adj" fmla="val 42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47788" y="1600200"/>
            <a:ext cx="2130552" cy="457200"/>
          </a:xfrm>
          <a:prstGeom prst="roundRect">
            <a:avLst>
              <a:gd name="adj" fmla="val 20000"/>
            </a:avLst>
          </a:prstGeom>
          <a:solidFill>
            <a:srgbClr val="FF4D5E">
              <a:alpha val="1500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584948" y="16002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STREAMING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84948" y="225856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03820" y="22585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584948" y="2825496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03820" y="28254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584948" y="3392424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03820" y="3392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84948" y="3959352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03820" y="395935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84948" y="4526280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03820" y="45262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47504" y="1600200"/>
            <a:ext cx="2130552" cy="4114800"/>
          </a:xfrm>
          <a:prstGeom prst="roundRect">
            <a:avLst>
              <a:gd name="adj" fmla="val 42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747504" y="1600200"/>
            <a:ext cx="2130552" cy="457200"/>
          </a:xfrm>
          <a:prstGeom prst="roundRect">
            <a:avLst>
              <a:gd name="adj" fmla="val 20000"/>
            </a:avLst>
          </a:prstGeom>
          <a:solidFill>
            <a:srgbClr val="90A3C0">
              <a:alpha val="15000"/>
            </a:srgb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884664" y="16002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884664" y="2258568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03536" y="22585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MediaMTX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884664" y="2825496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003536" y="28254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884664" y="3392424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003536" y="3392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84664" y="3959352"/>
            <a:ext cx="1856232" cy="457200"/>
          </a:xfrm>
          <a:prstGeom prst="roundRect">
            <a:avLst>
              <a:gd name="adj" fmla="val 14000"/>
            </a:avLst>
          </a:prstGeom>
          <a:solidFill>
            <a:srgbClr val="0E1A2E"/>
          </a:solidFill>
          <a:ln w="9525">
            <a:solidFill>
              <a:srgbClr val="2233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003536" y="395935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microservices   •   Real-time streaming   •   Spatial intelligence   •   AI inference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Video Frame to Critical Alert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9" name="Image 0" descr="D:\projects\gujratinnovation\docs\presentation\icon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673" y="1961205"/>
            <a:ext cx="247254" cy="24725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RTSP Feed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95221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13" name="Shape 10"/>
          <p:cNvSpPr/>
          <p:nvPr/>
        </p:nvSpPr>
        <p:spPr>
          <a:xfrm>
            <a:off x="2161032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252472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31948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6" name="Image 1" descr="D:\projects\gujratinnovation\docs\presentation\icons\det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065" y="1961205"/>
            <a:ext cx="247254" cy="24725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069592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206752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607613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20" name="Shape 16"/>
          <p:cNvSpPr/>
          <p:nvPr/>
        </p:nvSpPr>
        <p:spPr>
          <a:xfrm>
            <a:off x="3773424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3864864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44340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3" name="Image 2" descr="D:\projects\gujratinnovation\docs\presentation\icons\o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57" y="1961205"/>
            <a:ext cx="247254" cy="24725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681984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819144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plates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220005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27" name="Shape 22"/>
          <p:cNvSpPr/>
          <p:nvPr/>
        </p:nvSpPr>
        <p:spPr>
          <a:xfrm>
            <a:off x="5385816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5477256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856732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30" name="Image 3" descr="D:\projects\gujratinnovation\docs\presentation\icons\redi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849" y="1961205"/>
            <a:ext cx="247254" cy="24725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294376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431536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detection_events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832397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34" name="Shape 28"/>
          <p:cNvSpPr/>
          <p:nvPr/>
        </p:nvSpPr>
        <p:spPr>
          <a:xfrm>
            <a:off x="6998208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7089648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469124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37" name="Image 4" descr="D:\projects\gujratinnovation\docs\presentation\icons\watch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241" y="1961205"/>
            <a:ext cx="247254" cy="24725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906768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7043928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Engine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444789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41" name="Shape 34"/>
          <p:cNvSpPr/>
          <p:nvPr/>
        </p:nvSpPr>
        <p:spPr>
          <a:xfrm>
            <a:off x="8610600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3A0F16"/>
          </a:solidFill>
          <a:ln w="12700">
            <a:solidFill>
              <a:srgbClr val="FF4D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870204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9081516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44" name="Image 5" descr="D:\projects\gujratinnovation\docs\presentation\icons\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633" y="1961205"/>
            <a:ext cx="247254" cy="24725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519160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8656320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10057181" y="2217420"/>
            <a:ext cx="136550" cy="91440"/>
          </a:xfrm>
          <a:prstGeom prst="rightArrow">
            <a:avLst/>
          </a:prstGeom>
          <a:solidFill>
            <a:srgbClr val="22334F"/>
          </a:solidFill>
          <a:ln/>
        </p:spPr>
      </p:sp>
      <p:sp>
        <p:nvSpPr>
          <p:cNvPr id="48" name="Shape 40"/>
          <p:cNvSpPr/>
          <p:nvPr/>
        </p:nvSpPr>
        <p:spPr>
          <a:xfrm>
            <a:off x="10222992" y="15544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1"/>
          <p:cNvSpPr txBox="1"/>
          <p:nvPr/>
        </p:nvSpPr>
        <p:spPr>
          <a:xfrm>
            <a:off x="10314432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10693908" y="1847088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51" name="Image 6" descr="D:\projects\gujratinnovation\docs\presentation\icons\webso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025" y="1961205"/>
            <a:ext cx="247254" cy="24725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0131552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100" dirty="0"/>
          </a:p>
        </p:txBody>
      </p:sp>
      <p:sp>
        <p:nvSpPr>
          <p:cNvPr id="53" name="Text 44"/>
          <p:cNvSpPr txBox="1"/>
          <p:nvPr/>
        </p:nvSpPr>
        <p:spPr>
          <a:xfrm>
            <a:off x="10268712" y="2651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→ Dashboard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Text 46"/>
          <p:cNvSpPr txBox="1"/>
          <p:nvPr/>
        </p:nvSpPr>
        <p:spPr>
          <a:xfrm>
            <a:off x="777240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PLATE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777240" y="3776472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4C430"/>
          </a:solidFill>
          <a:ln w="19050">
            <a:solidFill>
              <a:srgbClr val="2C2C2C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77724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 27 EF 9012</a:t>
            </a:r>
            <a:endParaRPr lang="en-US" sz="1700" dirty="0"/>
          </a:p>
        </p:txBody>
      </p:sp>
      <p:sp>
        <p:nvSpPr>
          <p:cNvPr id="58" name="Text 49"/>
          <p:cNvSpPr txBox="1"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Confidence: 0.82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3383280" y="3794760"/>
            <a:ext cx="2286000" cy="384048"/>
          </a:xfrm>
          <a:prstGeom prst="roundRect">
            <a:avLst>
              <a:gd name="adj" fmla="val 38095"/>
            </a:avLst>
          </a:prstGeom>
          <a:solidFill>
            <a:srgbClr val="3A0F16"/>
          </a:solidFill>
          <a:ln w="9525">
            <a:solidFill>
              <a:srgbClr val="FF4D5E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3383280" y="3794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3383280" y="4251960"/>
            <a:ext cx="2286000" cy="384048"/>
          </a:xfrm>
          <a:prstGeom prst="roundRect">
            <a:avLst>
              <a:gd name="adj" fmla="val 38095"/>
            </a:avLst>
          </a:prstGeom>
          <a:solidFill>
            <a:srgbClr val="FF4D5E"/>
          </a:solidFill>
          <a:ln w="9525">
            <a:solidFill>
              <a:srgbClr val="FF4D5E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3383280" y="4251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6172200" y="3337560"/>
            <a:ext cx="5468112" cy="1417320"/>
          </a:xfrm>
          <a:prstGeom prst="roundRect">
            <a:avLst>
              <a:gd name="adj" fmla="val 645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4" name="Text 55"/>
          <p:cNvSpPr txBox="1"/>
          <p:nvPr/>
        </p:nvSpPr>
        <p:spPr>
          <a:xfrm>
            <a:off x="6400800" y="3483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PERFORMANCE</a:t>
            </a:r>
            <a:endParaRPr lang="en-US" sz="950" dirty="0"/>
          </a:p>
        </p:txBody>
      </p:sp>
      <p:sp>
        <p:nvSpPr>
          <p:cNvPr id="65" name="Text 56"/>
          <p:cNvSpPr txBox="1"/>
          <p:nvPr/>
        </p:nvSpPr>
        <p:spPr>
          <a:xfrm>
            <a:off x="6172200" y="3794760"/>
            <a:ext cx="182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10,340+</a:t>
            </a:r>
            <a:endParaRPr lang="en-US" sz="2200" dirty="0"/>
          </a:p>
        </p:txBody>
      </p:sp>
      <p:sp>
        <p:nvSpPr>
          <p:cNvPr id="66" name="Text 57"/>
          <p:cNvSpPr txBox="1"/>
          <p:nvPr/>
        </p:nvSpPr>
        <p:spPr>
          <a:xfrm>
            <a:off x="6263640" y="4270248"/>
            <a:ext cx="1639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events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7994904" y="3794760"/>
            <a:ext cx="182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1,758+</a:t>
            </a:r>
            <a:endParaRPr lang="en-US" sz="2200" dirty="0"/>
          </a:p>
        </p:txBody>
      </p:sp>
      <p:sp>
        <p:nvSpPr>
          <p:cNvPr id="68" name="Text 59"/>
          <p:cNvSpPr txBox="1"/>
          <p:nvPr/>
        </p:nvSpPr>
        <p:spPr>
          <a:xfrm>
            <a:off x="8086344" y="4270248"/>
            <a:ext cx="1639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auto-generated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9817608" y="3794760"/>
            <a:ext cx="182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26/30</a:t>
            </a:r>
            <a:endParaRPr lang="en-US" sz="2200" dirty="0"/>
          </a:p>
        </p:txBody>
      </p:sp>
      <p:sp>
        <p:nvSpPr>
          <p:cNvPr id="70" name="Text 61"/>
          <p:cNvSpPr txBox="1"/>
          <p:nvPr/>
        </p:nvSpPr>
        <p:spPr>
          <a:xfrm>
            <a:off x="9909048" y="4270248"/>
            <a:ext cx="1639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connected to AI</a:t>
            </a:r>
            <a:endParaRPr lang="en-US" sz="900" dirty="0"/>
          </a:p>
        </p:txBody>
      </p:sp>
      <p:sp>
        <p:nvSpPr>
          <p:cNvPr id="71" name="Text 62"/>
          <p:cNvSpPr txBox="1"/>
          <p:nvPr/>
        </p:nvSpPr>
        <p:spPr>
          <a:xfrm>
            <a:off x="54864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000" dirty="0"/>
          </a:p>
        </p:txBody>
      </p:sp>
      <p:sp>
        <p:nvSpPr>
          <p:cNvPr id="72" name="Shape 63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73" name="Image 7" descr="D:\projects\gujratinnovation\docs\presentation\icons\pers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5504688"/>
            <a:ext cx="237744" cy="237744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1097280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50" dirty="0"/>
          </a:p>
        </p:txBody>
      </p:sp>
      <p:sp>
        <p:nvSpPr>
          <p:cNvPr id="75" name="Shape 65"/>
          <p:cNvSpPr/>
          <p:nvPr/>
        </p:nvSpPr>
        <p:spPr>
          <a:xfrm>
            <a:off x="2788920" y="5394960"/>
            <a:ext cx="457200" cy="45720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76" name="Image 8" descr="D:\projects\gujratinnovation\docs\presentation\icons\c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8648" y="5504688"/>
            <a:ext cx="237744" cy="237744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3337560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50" dirty="0"/>
          </a:p>
        </p:txBody>
      </p:sp>
      <p:sp>
        <p:nvSpPr>
          <p:cNvPr id="78" name="Shape 67"/>
          <p:cNvSpPr/>
          <p:nvPr/>
        </p:nvSpPr>
        <p:spPr>
          <a:xfrm>
            <a:off x="5029200" y="5394960"/>
            <a:ext cx="457200" cy="45720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79" name="Image 9" descr="D:\projects\gujratinnovation\docs\presentation\icons\motorcy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8928" y="5504688"/>
            <a:ext cx="237744" cy="237744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5577840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150" dirty="0"/>
          </a:p>
        </p:txBody>
      </p:sp>
      <p:sp>
        <p:nvSpPr>
          <p:cNvPr id="81" name="Shape 69"/>
          <p:cNvSpPr/>
          <p:nvPr/>
        </p:nvSpPr>
        <p:spPr>
          <a:xfrm>
            <a:off x="7269480" y="5394960"/>
            <a:ext cx="457200" cy="45720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82" name="Image 10" descr="D:\projects\gujratinnovation\docs\presentation\icons\b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9208" y="5504688"/>
            <a:ext cx="237744" cy="237744"/>
          </a:xfrm>
          <a:prstGeom prst="rect">
            <a:avLst/>
          </a:prstGeom>
        </p:spPr>
      </p:pic>
      <p:sp>
        <p:nvSpPr>
          <p:cNvPr id="83" name="Text 70"/>
          <p:cNvSpPr txBox="1"/>
          <p:nvPr/>
        </p:nvSpPr>
        <p:spPr>
          <a:xfrm>
            <a:off x="7818120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50" dirty="0"/>
          </a:p>
        </p:txBody>
      </p:sp>
      <p:sp>
        <p:nvSpPr>
          <p:cNvPr id="84" name="Shape 71"/>
          <p:cNvSpPr/>
          <p:nvPr/>
        </p:nvSpPr>
        <p:spPr>
          <a:xfrm>
            <a:off x="9509760" y="5394960"/>
            <a:ext cx="457200" cy="45720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85" name="Image 11" descr="D:\projects\gujratinnovation\docs\presentation\icons\tru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9488" y="5504688"/>
            <a:ext cx="237744" cy="237744"/>
          </a:xfrm>
          <a:prstGeom prst="rect">
            <a:avLst/>
          </a:prstGeom>
        </p:spPr>
      </p:pic>
      <p:sp>
        <p:nvSpPr>
          <p:cNvPr id="86" name="Text 72"/>
          <p:cNvSpPr txBox="1"/>
          <p:nvPr/>
        </p:nvSpPr>
        <p:spPr>
          <a:xfrm>
            <a:off x="10058400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50" dirty="0"/>
          </a:p>
        </p:txBody>
      </p:sp>
      <p:sp>
        <p:nvSpPr>
          <p:cNvPr id="87" name="Text 7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88" name="Text 74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Operator Needs — One Command Center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8" name="Image 0" descr="D:\projects\gujratinnovation\docs\presentation\icons\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0837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56616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517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VideoWall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99008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30-camera HLS grid with auto-reconnect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194767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4" name="Image 1" descr="D:\projects\gujratinnovation\docs\presentation\icons\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208373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53712" y="26517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Search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4553712" y="299008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search, trajectory, timeline &amp; CSV export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0" name="Image 2" descr="D:\projects\gujratinnovation\docs\presentation\icons\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815" y="208373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06424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302752" y="26517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8302752" y="299008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watchlist alerts with severity workflow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767328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023360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6" name="Image 3" descr="D:\projects\gujratinnovation\docs\presentation\icons\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415942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56616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04672" y="472744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CameraMap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804672" y="5065776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visualization of camera locations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297680" y="3767328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53712" y="4023360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32" name="Image 4" descr="D:\projects\gujratinnovation\docs\presentation\icons\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775" y="4159423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1520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553712" y="472744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550" dirty="0"/>
          </a:p>
        </p:txBody>
      </p:sp>
      <p:sp>
        <p:nvSpPr>
          <p:cNvPr id="35" name="Text 28"/>
          <p:cNvSpPr txBox="1"/>
          <p:nvPr/>
        </p:nvSpPr>
        <p:spPr>
          <a:xfrm>
            <a:off x="4553712" y="5065776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camera-level access control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046720" y="3767328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02752" y="4023360"/>
            <a:ext cx="566928" cy="56692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38" name="Image 5" descr="D:\projects\gujratinnovation\docs\presentation\icons\repo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815" y="4159423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06424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302752" y="472744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550" dirty="0"/>
          </a:p>
        </p:txBody>
      </p:sp>
      <p:sp>
        <p:nvSpPr>
          <p:cNvPr id="41" name="Text 33"/>
          <p:cNvSpPr txBox="1"/>
          <p:nvPr/>
        </p:nvSpPr>
        <p:spPr>
          <a:xfrm>
            <a:off x="8302752" y="5065776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statistics, alert trends &amp; filtering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Access Control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896112"/>
          </a:xfrm>
          <a:prstGeom prst="roundRect">
            <a:avLst>
              <a:gd name="adj" fmla="val 10204"/>
            </a:avLst>
          </a:prstGeom>
          <a:solidFill>
            <a:srgbClr val="132542"/>
          </a:solidFill>
          <a:ln w="12700">
            <a:solidFill>
              <a:srgbClr val="FF4D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65376"/>
            <a:ext cx="548640" cy="54864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8" name="Image 0" descr="D:\projects\gujratinnovation\docs\presentation\icon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97050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837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85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22576" y="2596896"/>
            <a:ext cx="109728" cy="109728"/>
          </a:xfrm>
          <a:prstGeom prst="downArrow">
            <a:avLst/>
          </a:prstGeom>
          <a:solidFill>
            <a:srgbClr val="22334F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715768"/>
            <a:ext cx="3657600" cy="896112"/>
          </a:xfrm>
          <a:prstGeom prst="roundRect">
            <a:avLst>
              <a:gd name="adj" fmla="val 10204"/>
            </a:avLst>
          </a:prstGeom>
          <a:solidFill>
            <a:srgbClr val="132542"/>
          </a:solidFill>
          <a:ln w="12700">
            <a:solidFill>
              <a:srgbClr val="4C7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889504"/>
            <a:ext cx="548640" cy="54864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14" name="Image 1" descr="D:\projects\gujratinnovation\docs\presentation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3021178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862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ADMIN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209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322576" y="3621024"/>
            <a:ext cx="109728" cy="109728"/>
          </a:xfrm>
          <a:prstGeom prst="downArrow">
            <a:avLst/>
          </a:prstGeom>
          <a:solidFill>
            <a:srgbClr val="22334F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3739896"/>
            <a:ext cx="3657600" cy="896112"/>
          </a:xfrm>
          <a:prstGeom prst="roundRect">
            <a:avLst>
              <a:gd name="adj" fmla="val 10204"/>
            </a:avLst>
          </a:prstGeom>
          <a:solidFill>
            <a:srgbClr val="132542"/>
          </a:solidFill>
          <a:ln w="12700">
            <a:solidFill>
              <a:srgbClr val="2DE0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3913632"/>
            <a:ext cx="548640" cy="54864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0" name="Image 2" descr="D:\projects\gujratinnovation\docs\presentation\icons\analy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404530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/ ANALYST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322576" y="4645152"/>
            <a:ext cx="109728" cy="109728"/>
          </a:xfrm>
          <a:prstGeom prst="downArrow">
            <a:avLst/>
          </a:prstGeom>
          <a:solidFill>
            <a:srgbClr val="22334F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4764024"/>
            <a:ext cx="3657600" cy="896112"/>
          </a:xfrm>
          <a:prstGeom prst="roundRect">
            <a:avLst>
              <a:gd name="adj" fmla="val 10204"/>
            </a:avLst>
          </a:prstGeom>
          <a:solidFill>
            <a:srgbClr val="132542"/>
          </a:solidFill>
          <a:ln w="12700">
            <a:solidFill>
              <a:srgbClr val="35D0A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32542"/>
          </a:solidFill>
          <a:ln w="19050">
            <a:solidFill>
              <a:srgbClr val="35D0A0"/>
            </a:solidFill>
            <a:prstDash val="solid"/>
          </a:ln>
        </p:spPr>
      </p:sp>
      <p:pic>
        <p:nvPicPr>
          <p:cNvPr id="26" name="Image 3" descr="D:\projects\gujratinnovation\docs\presentation\icons\vie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506943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1732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/ AUDITOR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141732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26280" y="1691640"/>
            <a:ext cx="7114032" cy="1965960"/>
          </a:xfrm>
          <a:prstGeom prst="roundRect">
            <a:avLst>
              <a:gd name="adj" fmla="val 4651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475488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 PERMISSIONS</a:t>
            </a:r>
            <a:endParaRPr lang="en-US" sz="1200" dirty="0"/>
          </a:p>
        </p:txBody>
      </p:sp>
      <p:pic>
        <p:nvPicPr>
          <p:cNvPr id="31" name="Image 4" descr="D:\projects\gujratinnovation\docs\presentation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221992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992624" y="2148840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Feeds</a:t>
            </a:r>
            <a:endParaRPr lang="en-US" sz="1000" dirty="0"/>
          </a:p>
        </p:txBody>
      </p:sp>
      <p:pic>
        <p:nvPicPr>
          <p:cNvPr id="33" name="Image 5" descr="D:\projects\gujratinnovation\docs\presentation\icons\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824" y="2221992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11568" y="2148840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Recording</a:t>
            </a:r>
            <a:endParaRPr lang="en-US" sz="1000" dirty="0"/>
          </a:p>
        </p:txBody>
      </p:sp>
      <p:pic>
        <p:nvPicPr>
          <p:cNvPr id="35" name="Image 6" descr="D:\projects\gujratinnovation\docs\presentation\icons\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2768" y="2221992"/>
            <a:ext cx="164592" cy="16459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430512" y="2148840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Vehicles</a:t>
            </a:r>
            <a:endParaRPr lang="en-US" sz="1000" dirty="0"/>
          </a:p>
        </p:txBody>
      </p:sp>
      <p:pic>
        <p:nvPicPr>
          <p:cNvPr id="37" name="Image 7" descr="D:\projects\gujratinnovation\docs\presentation\icons\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624328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992624" y="2551176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</a:t>
            </a:r>
            <a:endParaRPr lang="en-US" sz="1000" dirty="0"/>
          </a:p>
        </p:txBody>
      </p:sp>
      <p:pic>
        <p:nvPicPr>
          <p:cNvPr id="39" name="Image 8" descr="D:\projects\gujratinnovation\docs\presentation\icons\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824" y="2624328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11568" y="2551176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Alerts</a:t>
            </a:r>
            <a:endParaRPr lang="en-US" sz="1000" dirty="0"/>
          </a:p>
        </p:txBody>
      </p:sp>
      <p:pic>
        <p:nvPicPr>
          <p:cNvPr id="41" name="Image 9" descr="D:\projects\gujratinnovation\docs\presentation\icons\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2768" y="2624328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9430512" y="2551176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</a:t>
            </a:r>
            <a:endParaRPr lang="en-US" sz="1000" dirty="0"/>
          </a:p>
        </p:txBody>
      </p:sp>
      <p:pic>
        <p:nvPicPr>
          <p:cNvPr id="43" name="Image 10" descr="D:\projects\gujratinnovation\docs\presentation\icons\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026664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992624" y="2953512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Cameras</a:t>
            </a:r>
            <a:endParaRPr lang="en-US" sz="1000" dirty="0"/>
          </a:p>
        </p:txBody>
      </p:sp>
      <p:pic>
        <p:nvPicPr>
          <p:cNvPr id="45" name="Image 11" descr="D:\projects\gujratinnovation\docs\presentation\icons\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3824" y="3026664"/>
            <a:ext cx="164592" cy="16459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7211568" y="2953512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Watchlist</a:t>
            </a:r>
            <a:endParaRPr lang="en-US" sz="1000" dirty="0"/>
          </a:p>
        </p:txBody>
      </p:sp>
      <p:pic>
        <p:nvPicPr>
          <p:cNvPr id="47" name="Image 12" descr="D:\projects\gujratinnovation\docs\presentation\icons\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2768" y="3026664"/>
            <a:ext cx="164592" cy="16459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9430512" y="2953512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00" dirty="0"/>
          </a:p>
        </p:txBody>
      </p:sp>
      <p:pic>
        <p:nvPicPr>
          <p:cNvPr id="49" name="Image 13" descr="D:\projects\gujratinnovation\docs\presentation\icons\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3429000"/>
            <a:ext cx="164592" cy="16459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4992624" y="335584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1000" dirty="0"/>
          </a:p>
        </p:txBody>
      </p:sp>
      <p:pic>
        <p:nvPicPr>
          <p:cNvPr id="51" name="Image 14" descr="D:\projects\gujratinnovation\docs\presentation\icons\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3824" y="3429000"/>
            <a:ext cx="164592" cy="16459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7211568" y="335584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1000" dirty="0"/>
          </a:p>
        </p:txBody>
      </p:sp>
      <p:sp>
        <p:nvSpPr>
          <p:cNvPr id="53" name="Shape 36"/>
          <p:cNvSpPr/>
          <p:nvPr/>
        </p:nvSpPr>
        <p:spPr>
          <a:xfrm>
            <a:off x="4572000" y="3822192"/>
            <a:ext cx="1687068" cy="932688"/>
          </a:xfrm>
          <a:prstGeom prst="roundRect">
            <a:avLst>
              <a:gd name="adj" fmla="val 9804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37"/>
          <p:cNvSpPr/>
          <p:nvPr/>
        </p:nvSpPr>
        <p:spPr>
          <a:xfrm>
            <a:off x="5196078" y="3941064"/>
            <a:ext cx="438912" cy="43891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5" name="Image 15" descr="D:\projects\gujratinnovation\docs\presentation\icons\lo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1417" y="4046403"/>
            <a:ext cx="228234" cy="22823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4663440" y="4398264"/>
            <a:ext cx="150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isolation</a:t>
            </a:r>
            <a:endParaRPr lang="en-US" sz="900" dirty="0"/>
          </a:p>
        </p:txBody>
      </p:sp>
      <p:sp>
        <p:nvSpPr>
          <p:cNvPr id="57" name="Shape 39"/>
          <p:cNvSpPr/>
          <p:nvPr/>
        </p:nvSpPr>
        <p:spPr>
          <a:xfrm>
            <a:off x="6350508" y="3822192"/>
            <a:ext cx="1687068" cy="932688"/>
          </a:xfrm>
          <a:prstGeom prst="roundRect">
            <a:avLst>
              <a:gd name="adj" fmla="val 9804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8" name="Shape 40"/>
          <p:cNvSpPr/>
          <p:nvPr/>
        </p:nvSpPr>
        <p:spPr>
          <a:xfrm>
            <a:off x="6974586" y="3941064"/>
            <a:ext cx="438912" cy="43891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59" name="Image 16" descr="D:\projects\gujratinnovation\docs\presentation\icons\camer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79925" y="4046403"/>
            <a:ext cx="228234" cy="228234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441948" y="4398264"/>
            <a:ext cx="150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Camera-level access</a:t>
            </a:r>
            <a:endParaRPr lang="en-US" sz="900" dirty="0"/>
          </a:p>
        </p:txBody>
      </p:sp>
      <p:sp>
        <p:nvSpPr>
          <p:cNvPr id="61" name="Shape 42"/>
          <p:cNvSpPr/>
          <p:nvPr/>
        </p:nvSpPr>
        <p:spPr>
          <a:xfrm>
            <a:off x="8129016" y="3822192"/>
            <a:ext cx="1687068" cy="932688"/>
          </a:xfrm>
          <a:prstGeom prst="roundRect">
            <a:avLst>
              <a:gd name="adj" fmla="val 9804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2" name="Shape 43"/>
          <p:cNvSpPr/>
          <p:nvPr/>
        </p:nvSpPr>
        <p:spPr>
          <a:xfrm>
            <a:off x="8753094" y="3941064"/>
            <a:ext cx="438912" cy="43891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63" name="Image 17" descr="D:\projects\gujratinnovation\docs\presentation\icons\k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433" y="4046403"/>
            <a:ext cx="228234" cy="228234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8220456" y="4398264"/>
            <a:ext cx="150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permissions</a:t>
            </a:r>
            <a:endParaRPr lang="en-US" sz="900" dirty="0"/>
          </a:p>
        </p:txBody>
      </p:sp>
      <p:sp>
        <p:nvSpPr>
          <p:cNvPr id="65" name="Shape 45"/>
          <p:cNvSpPr/>
          <p:nvPr/>
        </p:nvSpPr>
        <p:spPr>
          <a:xfrm>
            <a:off x="9907524" y="3822192"/>
            <a:ext cx="1687068" cy="932688"/>
          </a:xfrm>
          <a:prstGeom prst="roundRect">
            <a:avLst>
              <a:gd name="adj" fmla="val 9804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Shape 46"/>
          <p:cNvSpPr/>
          <p:nvPr/>
        </p:nvSpPr>
        <p:spPr>
          <a:xfrm>
            <a:off x="10531602" y="3941064"/>
            <a:ext cx="438912" cy="438912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67" name="Image 18" descr="D:\projects\gujratinnovation\docs\presentation\icons\audito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6941" y="4046403"/>
            <a:ext cx="228234" cy="228234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9998964" y="4398264"/>
            <a:ext cx="150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69" name="Text 48"/>
          <p:cNvSpPr txBox="1"/>
          <p:nvPr/>
        </p:nvSpPr>
        <p:spPr>
          <a:xfrm>
            <a:off x="452628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USER EXAMPLES</a:t>
            </a:r>
            <a:endParaRPr lang="en-US" sz="1100" dirty="0"/>
          </a:p>
        </p:txBody>
      </p:sp>
      <p:sp>
        <p:nvSpPr>
          <p:cNvPr id="70" name="Shape 49"/>
          <p:cNvSpPr/>
          <p:nvPr/>
        </p:nvSpPr>
        <p:spPr>
          <a:xfrm>
            <a:off x="4562856" y="5257800"/>
            <a:ext cx="1349654" cy="777240"/>
          </a:xfrm>
          <a:prstGeom prst="roundRect">
            <a:avLst>
              <a:gd name="adj" fmla="val 11765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1" name="Text 50"/>
          <p:cNvSpPr txBox="1"/>
          <p:nvPr/>
        </p:nvSpPr>
        <p:spPr>
          <a:xfrm>
            <a:off x="4617720" y="5340096"/>
            <a:ext cx="1239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950" dirty="0"/>
          </a:p>
        </p:txBody>
      </p:sp>
      <p:sp>
        <p:nvSpPr>
          <p:cNvPr id="72" name="Text 51"/>
          <p:cNvSpPr txBox="1"/>
          <p:nvPr/>
        </p:nvSpPr>
        <p:spPr>
          <a:xfrm>
            <a:off x="4599432" y="5614416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830" dirty="0"/>
          </a:p>
        </p:txBody>
      </p:sp>
      <p:sp>
        <p:nvSpPr>
          <p:cNvPr id="73" name="Shape 52"/>
          <p:cNvSpPr/>
          <p:nvPr/>
        </p:nvSpPr>
        <p:spPr>
          <a:xfrm>
            <a:off x="5985662" y="5257800"/>
            <a:ext cx="1349654" cy="777240"/>
          </a:xfrm>
          <a:prstGeom prst="roundRect">
            <a:avLst>
              <a:gd name="adj" fmla="val 11765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4" name="Text 53"/>
          <p:cNvSpPr txBox="1"/>
          <p:nvPr/>
        </p:nvSpPr>
        <p:spPr>
          <a:xfrm>
            <a:off x="6040526" y="5340096"/>
            <a:ext cx="1239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muni_operator</a:t>
            </a:r>
            <a:endParaRPr lang="en-US" sz="950" dirty="0"/>
          </a:p>
        </p:txBody>
      </p:sp>
      <p:sp>
        <p:nvSpPr>
          <p:cNvPr id="75" name="Text 54"/>
          <p:cNvSpPr txBox="1"/>
          <p:nvPr/>
        </p:nvSpPr>
        <p:spPr>
          <a:xfrm>
            <a:off x="6022238" y="5614416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cameras</a:t>
            </a:r>
            <a:endParaRPr lang="en-US" sz="830" dirty="0"/>
          </a:p>
        </p:txBody>
      </p:sp>
      <p:sp>
        <p:nvSpPr>
          <p:cNvPr id="76" name="Shape 55"/>
          <p:cNvSpPr/>
          <p:nvPr/>
        </p:nvSpPr>
        <p:spPr>
          <a:xfrm>
            <a:off x="7408469" y="5257800"/>
            <a:ext cx="1349654" cy="777240"/>
          </a:xfrm>
          <a:prstGeom prst="roundRect">
            <a:avLst>
              <a:gd name="adj" fmla="val 11765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7" name="Text 56"/>
          <p:cNvSpPr txBox="1"/>
          <p:nvPr/>
        </p:nvSpPr>
        <p:spPr>
          <a:xfrm>
            <a:off x="7463333" y="5340096"/>
            <a:ext cx="1239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rto_analyst</a:t>
            </a:r>
            <a:endParaRPr lang="en-US" sz="950" dirty="0"/>
          </a:p>
        </p:txBody>
      </p:sp>
      <p:sp>
        <p:nvSpPr>
          <p:cNvPr id="78" name="Text 57"/>
          <p:cNvSpPr txBox="1"/>
          <p:nvPr/>
        </p:nvSpPr>
        <p:spPr>
          <a:xfrm>
            <a:off x="7445045" y="5614416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+ Police</a:t>
            </a:r>
            <a:endParaRPr lang="en-US" sz="830" dirty="0"/>
          </a:p>
        </p:txBody>
      </p:sp>
      <p:sp>
        <p:nvSpPr>
          <p:cNvPr id="79" name="Shape 58"/>
          <p:cNvSpPr/>
          <p:nvPr/>
        </p:nvSpPr>
        <p:spPr>
          <a:xfrm>
            <a:off x="8831275" y="5257800"/>
            <a:ext cx="1349654" cy="777240"/>
          </a:xfrm>
          <a:prstGeom prst="roundRect">
            <a:avLst>
              <a:gd name="adj" fmla="val 11765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0" name="Text 59"/>
          <p:cNvSpPr txBox="1"/>
          <p:nvPr/>
        </p:nvSpPr>
        <p:spPr>
          <a:xfrm>
            <a:off x="8886139" y="5340096"/>
            <a:ext cx="1239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police_viewer</a:t>
            </a:r>
            <a:endParaRPr lang="en-US" sz="950" dirty="0"/>
          </a:p>
        </p:txBody>
      </p:sp>
      <p:sp>
        <p:nvSpPr>
          <p:cNvPr id="81" name="Text 60"/>
          <p:cNvSpPr txBox="1"/>
          <p:nvPr/>
        </p:nvSpPr>
        <p:spPr>
          <a:xfrm>
            <a:off x="8867851" y="5614416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cameras</a:t>
            </a:r>
            <a:endParaRPr lang="en-US" sz="830" dirty="0"/>
          </a:p>
        </p:txBody>
      </p:sp>
      <p:sp>
        <p:nvSpPr>
          <p:cNvPr id="82" name="Shape 61"/>
          <p:cNvSpPr/>
          <p:nvPr/>
        </p:nvSpPr>
        <p:spPr>
          <a:xfrm>
            <a:off x="10254082" y="5257800"/>
            <a:ext cx="1349654" cy="777240"/>
          </a:xfrm>
          <a:prstGeom prst="roundRect">
            <a:avLst>
              <a:gd name="adj" fmla="val 11765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3" name="Text 62"/>
          <p:cNvSpPr txBox="1"/>
          <p:nvPr/>
        </p:nvSpPr>
        <p:spPr>
          <a:xfrm>
            <a:off x="10308946" y="5340096"/>
            <a:ext cx="1239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state_auditor</a:t>
            </a:r>
            <a:endParaRPr lang="en-US" sz="950" dirty="0"/>
          </a:p>
        </p:txBody>
      </p:sp>
      <p:sp>
        <p:nvSpPr>
          <p:cNvPr id="84" name="Text 63"/>
          <p:cNvSpPr txBox="1"/>
          <p:nvPr/>
        </p:nvSpPr>
        <p:spPr>
          <a:xfrm>
            <a:off x="10290658" y="5614416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departments</a:t>
            </a:r>
            <a:endParaRPr lang="en-US" sz="830" dirty="0"/>
          </a:p>
        </p:txBody>
      </p:sp>
      <p:sp>
        <p:nvSpPr>
          <p:cNvPr id="85" name="Text 64"/>
          <p:cNvSpPr txBox="1"/>
          <p:nvPr/>
        </p:nvSpPr>
        <p:spPr>
          <a:xfrm>
            <a:off x="4526280" y="6172200"/>
            <a:ext cx="7114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data  →  Right person  →  Right permission</a:t>
            </a:r>
            <a:endParaRPr lang="en-US" sz="1300" dirty="0"/>
          </a:p>
        </p:txBody>
      </p:sp>
      <p:sp>
        <p:nvSpPr>
          <p:cNvPr id="86" name="Text 6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87" name="Text 6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Gujarat's Existing Camera Infrastructure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CAMERA GRID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286000"/>
            <a:ext cx="3108960" cy="2240280"/>
          </a:xfrm>
          <a:prstGeom prst="ellipse">
            <a:avLst/>
          </a:prstGeom>
          <a:solidFill>
            <a:srgbClr val="0E1A2E">
              <a:alpha val="90000"/>
            </a:srgbClr>
          </a:solidFill>
          <a:ln w="12700">
            <a:solidFill>
              <a:srgbClr val="22334F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505456" y="3031236"/>
            <a:ext cx="292608" cy="29260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0" name="Image 0" descr="D:\projects\gujratinnovation\docs\presentation\icon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3095244"/>
            <a:ext cx="164592" cy="1645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48840" y="33421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453896" y="3031236"/>
            <a:ext cx="292608" cy="29260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3" name="Image 1" descr="D:\projects\gujratinnovation\docs\presentation\icons\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309524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33421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557016" y="3031236"/>
            <a:ext cx="292608" cy="29260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6" name="Image 2" descr="D:\projects\gujratinnovation\docs\presentation\icons\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309524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00400" y="33421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505456" y="2551176"/>
            <a:ext cx="292608" cy="29260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19" name="Image 3" descr="D:\projects\gujratinnovation\docs\presentation\icons\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2615184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148840" y="2862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2505456" y="4105656"/>
            <a:ext cx="292608" cy="29260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2" name="Image 4" descr="D:\projects\gujratinnovation\docs\presentation\icons\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416966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148840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1783080" y="45537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35D0A0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783080" y="4553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CAMERAS CONNECTED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983480" y="1691640"/>
            <a:ext cx="2127504" cy="1188720"/>
          </a:xfrm>
          <a:prstGeom prst="roundRect">
            <a:avLst>
              <a:gd name="adj" fmla="val 76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809488" y="1837944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28" name="Image 5" descr="D:\projects\gujratinnovation\docs\presentation\icons\st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3605" y="1952061"/>
            <a:ext cx="247254" cy="24725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983480" y="2377440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5074920" y="2633472"/>
            <a:ext cx="1944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ingestion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248144" y="1691640"/>
            <a:ext cx="2127504" cy="1188720"/>
          </a:xfrm>
          <a:prstGeom prst="roundRect">
            <a:avLst>
              <a:gd name="adj" fmla="val 76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074152" y="1837944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33" name="Image 6" descr="D:\projects\gujratinnovation\docs\presentation\icons\wif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269" y="1952061"/>
            <a:ext cx="247254" cy="24725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248144" y="2377440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339584" y="2633472"/>
            <a:ext cx="1944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streaming / CDN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9512808" y="1691640"/>
            <a:ext cx="2127504" cy="1188720"/>
          </a:xfrm>
          <a:prstGeom prst="roundRect">
            <a:avLst>
              <a:gd name="adj" fmla="val 7692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10338816" y="1837944"/>
            <a:ext cx="475488" cy="475488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38" name="Image 7" descr="D:\projects\gujratinnovation\docs\presentation\icons\sign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2933" y="1952061"/>
            <a:ext cx="247254" cy="24725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512808" y="2377440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9604248" y="2633472"/>
            <a:ext cx="1944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viewing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4983480" y="3063240"/>
            <a:ext cx="6656832" cy="1874520"/>
          </a:xfrm>
          <a:prstGeom prst="roundRect">
            <a:avLst>
              <a:gd name="adj" fmla="val 4878"/>
            </a:avLst>
          </a:prstGeom>
          <a:solidFill>
            <a:srgbClr val="132542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32"/>
          <p:cNvSpPr txBox="1"/>
          <p:nvPr/>
        </p:nvSpPr>
        <p:spPr>
          <a:xfrm>
            <a:off x="5212080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UNRELIABLE NETWORKS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5212080" y="3648456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44" name="Text 34"/>
          <p:cNvSpPr txBox="1"/>
          <p:nvPr/>
        </p:nvSpPr>
        <p:spPr>
          <a:xfrm>
            <a:off x="5413248" y="3557016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2s → 30s cap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8311896" y="3648456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8513064" y="3557016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stream isolation</a:t>
            </a:r>
            <a:endParaRPr lang="en-US" sz="1050" dirty="0"/>
          </a:p>
        </p:txBody>
      </p:sp>
      <p:sp>
        <p:nvSpPr>
          <p:cNvPr id="47" name="Shape 37"/>
          <p:cNvSpPr/>
          <p:nvPr/>
        </p:nvSpPr>
        <p:spPr>
          <a:xfrm>
            <a:off x="5212080" y="4050792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5413248" y="3959352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/ H.265 handling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8311896" y="4050792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50" name="Text 40"/>
          <p:cNvSpPr txBox="1"/>
          <p:nvPr/>
        </p:nvSpPr>
        <p:spPr>
          <a:xfrm>
            <a:off x="8513064" y="3959352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PTS-based timing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5212080" y="4453128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52" name="Text 42"/>
          <p:cNvSpPr txBox="1"/>
          <p:nvPr/>
        </p:nvSpPr>
        <p:spPr>
          <a:xfrm>
            <a:off x="5413248" y="4361688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Inter-frame gap tolerance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8311896" y="4453128"/>
            <a:ext cx="73152" cy="73152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8513064" y="4361688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RTSP over TCP</a:t>
            </a:r>
            <a:endParaRPr lang="en-US" sz="1050" dirty="0"/>
          </a:p>
        </p:txBody>
      </p:sp>
      <p:sp>
        <p:nvSpPr>
          <p:cNvPr id="55" name="Text 45"/>
          <p:cNvSpPr txBox="1"/>
          <p:nvPr/>
        </p:nvSpPr>
        <p:spPr>
          <a:xfrm>
            <a:off x="4983480" y="5120640"/>
            <a:ext cx="6656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Cameras Connected</a:t>
            </a:r>
            <a:endParaRPr lang="en-US" sz="2200" dirty="0"/>
          </a:p>
        </p:txBody>
      </p:sp>
      <p:sp>
        <p:nvSpPr>
          <p:cNvPr id="56" name="Text 46"/>
          <p:cNvSpPr txBox="1"/>
          <p:nvPr/>
        </p:nvSpPr>
        <p:spPr>
          <a:xfrm>
            <a:off x="4983480" y="5623560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deployment advantage — not a theoretical architecture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Minutes into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32542"/>
          </a:solidFill>
          <a:ln w="12700">
            <a:solidFill>
              <a:srgbClr val="2DE0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 MIN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963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time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30+ minutes previously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88536" y="1600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32542"/>
          </a:solidFill>
          <a:ln w="12700">
            <a:solidFill>
              <a:srgbClr val="4C7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88536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7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4963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CCTV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workload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600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32542"/>
          </a:solidFill>
          <a:ln w="12700">
            <a:solidFill>
              <a:srgbClr val="35D0A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28432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5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4963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suspect / vehicle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(LIVE-RUN METRICS)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4050792"/>
            <a:ext cx="2108606" cy="1371600"/>
          </a:xfrm>
          <a:prstGeom prst="roundRect">
            <a:avLst>
              <a:gd name="adj" fmla="val 6667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03504" y="4178808"/>
            <a:ext cx="2108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4727448"/>
            <a:ext cx="19257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connected &amp;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 real-time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1838" y="4050792"/>
            <a:ext cx="2108606" cy="1371600"/>
          </a:xfrm>
          <a:prstGeom prst="roundRect">
            <a:avLst>
              <a:gd name="adj" fmla="val 6667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821838" y="4178808"/>
            <a:ext cx="2108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2913278" y="4727448"/>
            <a:ext cx="19257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across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routers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40173" y="4050792"/>
            <a:ext cx="2108606" cy="1371600"/>
          </a:xfrm>
          <a:prstGeom prst="roundRect">
            <a:avLst>
              <a:gd name="adj" fmla="val 6667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040173" y="4178808"/>
            <a:ext cx="2108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5131613" y="4727448"/>
            <a:ext cx="19257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58507" y="4050792"/>
            <a:ext cx="2108606" cy="1371600"/>
          </a:xfrm>
          <a:prstGeom prst="roundRect">
            <a:avLst>
              <a:gd name="adj" fmla="val 6667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258507" y="4178808"/>
            <a:ext cx="2108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10,340+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7349947" y="4727448"/>
            <a:ext cx="19257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76842" y="4050792"/>
            <a:ext cx="2108606" cy="1371600"/>
          </a:xfrm>
          <a:prstGeom prst="roundRect">
            <a:avLst>
              <a:gd name="adj" fmla="val 6667"/>
            </a:avLst>
          </a:prstGeom>
          <a:solidFill>
            <a:srgbClr val="0E1A2E"/>
          </a:solidFill>
          <a:ln w="12700">
            <a:solidFill>
              <a:srgbClr val="2233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476842" y="4178808"/>
            <a:ext cx="2108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1,758+</a:t>
            </a:r>
            <a:endParaRPr lang="en-US" sz="2500" dirty="0"/>
          </a:p>
        </p:txBody>
      </p:sp>
      <p:sp>
        <p:nvSpPr>
          <p:cNvPr id="31" name="Text 29"/>
          <p:cNvSpPr txBox="1"/>
          <p:nvPr/>
        </p:nvSpPr>
        <p:spPr>
          <a:xfrm>
            <a:off x="9568282" y="4727448"/>
            <a:ext cx="19257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2743200" cy="457200"/>
          </a:xfrm>
          <a:prstGeom prst="roundRect">
            <a:avLst>
              <a:gd name="adj" fmla="val 32000"/>
            </a:avLst>
          </a:prstGeom>
          <a:solidFill>
            <a:srgbClr val="132542"/>
          </a:solidFill>
          <a:ln w="9525">
            <a:solidFill>
              <a:srgbClr val="2DE0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46704" y="5797296"/>
            <a:ext cx="1321308" cy="146304"/>
          </a:xfrm>
          <a:prstGeom prst="rightArrow">
            <a:avLst/>
          </a:prstGeom>
          <a:solidFill>
            <a:srgbClr val="5F739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22876" y="5623560"/>
            <a:ext cx="2743200" cy="457200"/>
          </a:xfrm>
          <a:prstGeom prst="roundRect">
            <a:avLst>
              <a:gd name="adj" fmla="val 32000"/>
            </a:avLst>
          </a:prstGeom>
          <a:solidFill>
            <a:srgbClr val="132542"/>
          </a:solidFill>
          <a:ln w="9525">
            <a:solidFill>
              <a:srgbClr val="2DE0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2876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20940" y="5797296"/>
            <a:ext cx="1321308" cy="146304"/>
          </a:xfrm>
          <a:prstGeom prst="rightArrow">
            <a:avLst/>
          </a:prstGeom>
          <a:solidFill>
            <a:srgbClr val="5F7392"/>
          </a:solidFill>
          <a:ln/>
        </p:spPr>
      </p:sp>
      <p:sp>
        <p:nvSpPr>
          <p:cNvPr id="38" name="Shape 36"/>
          <p:cNvSpPr/>
          <p:nvPr/>
        </p:nvSpPr>
        <p:spPr>
          <a:xfrm>
            <a:off x="8897112" y="5623560"/>
            <a:ext cx="2743200" cy="457200"/>
          </a:xfrm>
          <a:prstGeom prst="roundRect">
            <a:avLst>
              <a:gd name="adj" fmla="val 32000"/>
            </a:avLst>
          </a:prstGeom>
          <a:solidFill>
            <a:srgbClr val="FF4D5E"/>
          </a:solidFill>
          <a:ln w="9525">
            <a:solidFill>
              <a:srgbClr val="FF4D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97112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ALERT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FUTURE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30 Cameras to a State-Wide Intelligence Layer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32542"/>
          </a:solidFill>
          <a:ln w="12700">
            <a:solidFill>
              <a:srgbClr val="4C7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0472" y="1920240"/>
            <a:ext cx="585216" cy="585216"/>
          </a:xfrm>
          <a:prstGeom prst="ellipse">
            <a:avLst/>
          </a:prstGeom>
          <a:solidFill>
            <a:srgbClr val="132542"/>
          </a:solidFill>
          <a:ln w="19050">
            <a:solidFill>
              <a:srgbClr val="4C7CF0"/>
            </a:solidFill>
            <a:prstDash val="solid"/>
          </a:ln>
        </p:spPr>
      </p:sp>
      <p:pic>
        <p:nvPicPr>
          <p:cNvPr id="8" name="Image 0" descr="D:\projects\gujratinnovation\docs\presentation\icons\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924" y="2060692"/>
            <a:ext cx="304312" cy="304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4C7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Pilot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3319272"/>
            <a:ext cx="1828800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557016"/>
            <a:ext cx="54864" cy="54864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7824" y="34381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cameras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49808" y="3922776"/>
            <a:ext cx="54864" cy="54864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processing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49808" y="4288536"/>
            <a:ext cx="54864" cy="54864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7824" y="4169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49808" y="4654296"/>
            <a:ext cx="54864" cy="54864"/>
          </a:xfrm>
          <a:prstGeom prst="ellipse">
            <a:avLst/>
          </a:prstGeom>
          <a:solidFill>
            <a:srgbClr val="4C7C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7824" y="45354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Department-aware access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3044952" y="3250692"/>
            <a:ext cx="265176" cy="146304"/>
          </a:xfrm>
          <a:prstGeom prst="rightArrow">
            <a:avLst/>
          </a:prstGeom>
          <a:solidFill>
            <a:srgbClr val="4C7CF0"/>
          </a:solidFill>
          <a:ln/>
        </p:spPr>
      </p:sp>
      <p:sp>
        <p:nvSpPr>
          <p:cNvPr id="21" name="Shape 18"/>
          <p:cNvSpPr/>
          <p:nvPr/>
        </p:nvSpPr>
        <p:spPr>
          <a:xfrm>
            <a:off x="3337560" y="169164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32542"/>
          </a:solidFill>
          <a:ln w="12700">
            <a:solidFill>
              <a:srgbClr val="2DE0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79392" y="1920240"/>
            <a:ext cx="585216" cy="585216"/>
          </a:xfrm>
          <a:prstGeom prst="ellipse">
            <a:avLst/>
          </a:prstGeom>
          <a:solidFill>
            <a:srgbClr val="132542"/>
          </a:solidFill>
          <a:ln w="19050">
            <a:solidFill>
              <a:srgbClr val="2DE0FF"/>
            </a:solidFill>
            <a:prstDash val="solid"/>
          </a:ln>
        </p:spPr>
      </p:sp>
      <p:pic>
        <p:nvPicPr>
          <p:cNvPr id="23" name="Image 1" descr="D:\projects\gujratinnovation\docs\presentation\icons\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844" y="2060692"/>
            <a:ext cx="304312" cy="304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33756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3375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Scale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657600" y="3319272"/>
            <a:ext cx="1828800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38728" y="3557016"/>
            <a:ext cx="54864" cy="54864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666744" y="34381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cameras per district</a:t>
            </a:r>
            <a:endParaRPr lang="en-US" sz="930" dirty="0"/>
          </a:p>
        </p:txBody>
      </p:sp>
      <p:sp>
        <p:nvSpPr>
          <p:cNvPr id="29" name="Shape 25"/>
          <p:cNvSpPr/>
          <p:nvPr/>
        </p:nvSpPr>
        <p:spPr>
          <a:xfrm>
            <a:off x="3538728" y="3922776"/>
            <a:ext cx="54864" cy="54864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666744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of AI workers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3538728" y="4288536"/>
            <a:ext cx="54864" cy="54864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666744" y="4169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Camera-level isolation</a:t>
            </a:r>
            <a:endParaRPr lang="en-US" sz="930" dirty="0"/>
          </a:p>
        </p:txBody>
      </p:sp>
      <p:sp>
        <p:nvSpPr>
          <p:cNvPr id="33" name="Shape 29"/>
          <p:cNvSpPr/>
          <p:nvPr/>
        </p:nvSpPr>
        <p:spPr>
          <a:xfrm>
            <a:off x="3538728" y="4654296"/>
            <a:ext cx="54864" cy="54864"/>
          </a:xfrm>
          <a:prstGeom prst="ellipse">
            <a:avLst/>
          </a:prstGeom>
          <a:solidFill>
            <a:srgbClr val="2DE0FF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3666744" y="45354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alert intelligence</a:t>
            </a:r>
            <a:endParaRPr lang="en-US" sz="930" dirty="0"/>
          </a:p>
        </p:txBody>
      </p:sp>
      <p:sp>
        <p:nvSpPr>
          <p:cNvPr id="35" name="Shape 31"/>
          <p:cNvSpPr/>
          <p:nvPr/>
        </p:nvSpPr>
        <p:spPr>
          <a:xfrm>
            <a:off x="5833872" y="3250692"/>
            <a:ext cx="265176" cy="146304"/>
          </a:xfrm>
          <a:prstGeom prst="rightArrow">
            <a:avLst/>
          </a:prstGeom>
          <a:solidFill>
            <a:srgbClr val="2DE0FF"/>
          </a:solidFill>
          <a:ln/>
        </p:spPr>
      </p:sp>
      <p:sp>
        <p:nvSpPr>
          <p:cNvPr id="36" name="Shape 32"/>
          <p:cNvSpPr/>
          <p:nvPr/>
        </p:nvSpPr>
        <p:spPr>
          <a:xfrm>
            <a:off x="6126480" y="169164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32542"/>
          </a:solidFill>
          <a:ln w="12700">
            <a:solidFill>
              <a:srgbClr val="35D0A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068312" y="1920240"/>
            <a:ext cx="585216" cy="585216"/>
          </a:xfrm>
          <a:prstGeom prst="ellipse">
            <a:avLst/>
          </a:prstGeom>
          <a:solidFill>
            <a:srgbClr val="132542"/>
          </a:solidFill>
          <a:ln w="19050">
            <a:solidFill>
              <a:srgbClr val="35D0A0"/>
            </a:solidFill>
            <a:prstDash val="solid"/>
          </a:ln>
        </p:spPr>
      </p:sp>
      <p:pic>
        <p:nvPicPr>
          <p:cNvPr id="38" name="Image 2" descr="D:\projects\gujratinnovation\docs\presentation\icons\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764" y="2060692"/>
            <a:ext cx="304312" cy="30431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12648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35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612648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Gujarat-Wide Rollout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446520" y="3319272"/>
            <a:ext cx="1828800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327648" y="3557016"/>
            <a:ext cx="54864" cy="54864"/>
          </a:xfrm>
          <a:prstGeom prst="ellipse">
            <a:avLst/>
          </a:prstGeom>
          <a:solidFill>
            <a:srgbClr val="35D0A0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455664" y="34381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districts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6327648" y="3922776"/>
            <a:ext cx="54864" cy="54864"/>
          </a:xfrm>
          <a:prstGeom prst="ellipse">
            <a:avLst/>
          </a:prstGeom>
          <a:solidFill>
            <a:srgbClr val="35D0A0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455664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intelligence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6327648" y="4288536"/>
            <a:ext cx="54864" cy="54864"/>
          </a:xfrm>
          <a:prstGeom prst="ellipse">
            <a:avLst/>
          </a:prstGeom>
          <a:solidFill>
            <a:srgbClr val="35D0A0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455664" y="4169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command visibility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8686800" y="1691640"/>
            <a:ext cx="2953512" cy="3246120"/>
          </a:xfrm>
          <a:prstGeom prst="roundRect">
            <a:avLst>
              <a:gd name="adj" fmla="val 3096"/>
            </a:avLst>
          </a:prstGeom>
          <a:solidFill>
            <a:srgbClr val="0E1A2E"/>
          </a:solidFill>
          <a:ln w="12700">
            <a:solidFill>
              <a:srgbClr val="2DE0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4"/>
          <p:cNvSpPr txBox="1"/>
          <p:nvPr/>
        </p:nvSpPr>
        <p:spPr>
          <a:xfrm>
            <a:off x="8869680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5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OPERATIONAL VALUE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9870948" y="2468880"/>
            <a:ext cx="585216" cy="585216"/>
          </a:xfrm>
          <a:prstGeom prst="ellipse">
            <a:avLst/>
          </a:prstGeom>
          <a:solidFill>
            <a:srgbClr val="132542"/>
          </a:solidFill>
          <a:ln w="19050">
            <a:solidFill>
              <a:srgbClr val="35D0A0"/>
            </a:solidFill>
            <a:prstDash val="solid"/>
          </a:ln>
        </p:spPr>
      </p:sp>
      <p:pic>
        <p:nvPicPr>
          <p:cNvPr id="51" name="Image 3" descr="D:\projects\gujratinnovation\docs\presentation\icons\rup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400" y="2609332"/>
            <a:ext cx="304312" cy="304312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686800" y="317296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₹15-20L / year</a:t>
            </a:r>
            <a:endParaRPr lang="en-US" sz="1700" dirty="0"/>
          </a:p>
        </p:txBody>
      </p:sp>
      <p:sp>
        <p:nvSpPr>
          <p:cNvPr id="53" name="Text 47"/>
          <p:cNvSpPr txBox="1"/>
          <p:nvPr/>
        </p:nvSpPr>
        <p:spPr>
          <a:xfrm>
            <a:off x="8686800" y="35204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savings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8915400" y="3904488"/>
            <a:ext cx="2496312" cy="0"/>
          </a:xfrm>
          <a:prstGeom prst="line">
            <a:avLst/>
          </a:prstGeom>
          <a:noFill/>
          <a:ln w="12700">
            <a:solidFill>
              <a:srgbClr val="22334F"/>
            </a:solidFill>
            <a:prstDash val="solid"/>
          </a:ln>
        </p:spPr>
      </p:sp>
      <p:pic>
        <p:nvPicPr>
          <p:cNvPr id="55" name="Image 4" descr="D:\projects\gujratinnovation\docs\presentation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069080"/>
            <a:ext cx="146304" cy="146304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089136" y="40142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monitoring</a:t>
            </a:r>
            <a:endParaRPr lang="en-US" sz="900" dirty="0"/>
          </a:p>
        </p:txBody>
      </p:sp>
      <p:pic>
        <p:nvPicPr>
          <p:cNvPr id="57" name="Image 5" descr="D:\projects\gujratinnovation\docs\presentation\icons\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4361688"/>
            <a:ext cx="146304" cy="146304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9089136" y="430682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investigation</a:t>
            </a:r>
            <a:endParaRPr lang="en-US" sz="900" dirty="0"/>
          </a:p>
        </p:txBody>
      </p:sp>
      <p:pic>
        <p:nvPicPr>
          <p:cNvPr id="59" name="Image 6" descr="D:\projects\gujratinnovation\docs\presentation\icons\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4654296"/>
            <a:ext cx="146304" cy="146304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9089136" y="459943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900" dirty="0"/>
          </a:p>
        </p:txBody>
      </p:sp>
      <p:pic>
        <p:nvPicPr>
          <p:cNvPr id="61" name="Image 7" descr="D:\projects\gujratinnovation\docs\presentation\icons\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4946904"/>
            <a:ext cx="146304" cy="146304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9089136" y="48920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</a:t>
            </a:r>
            <a:endParaRPr lang="en-US" sz="900" dirty="0"/>
          </a:p>
        </p:txBody>
      </p:sp>
      <p:sp>
        <p:nvSpPr>
          <p:cNvPr id="63" name="Text 53"/>
          <p:cNvSpPr txBox="1"/>
          <p:nvPr/>
        </p:nvSpPr>
        <p:spPr>
          <a:xfrm>
            <a:off x="548640" y="5257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SCALABILITY FOUNDATION</a:t>
            </a:r>
            <a:endParaRPr lang="en-US" sz="1050" dirty="0"/>
          </a:p>
        </p:txBody>
      </p:sp>
      <p:sp>
        <p:nvSpPr>
          <p:cNvPr id="64" name="Shape 54"/>
          <p:cNvSpPr/>
          <p:nvPr/>
        </p:nvSpPr>
        <p:spPr>
          <a:xfrm>
            <a:off x="548640" y="5577840"/>
            <a:ext cx="2567178" cy="502920"/>
          </a:xfrm>
          <a:prstGeom prst="roundRect">
            <a:avLst>
              <a:gd name="adj" fmla="val 29091"/>
            </a:avLst>
          </a:prstGeom>
          <a:solidFill>
            <a:srgbClr val="132542"/>
          </a:solidFill>
          <a:ln w="9525">
            <a:solidFill>
              <a:srgbClr val="4C7CF0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548640" y="557784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66" name="Shape 56"/>
          <p:cNvSpPr/>
          <p:nvPr/>
        </p:nvSpPr>
        <p:spPr>
          <a:xfrm>
            <a:off x="3143250" y="5760720"/>
            <a:ext cx="219456" cy="146304"/>
          </a:xfrm>
          <a:prstGeom prst="rightArrow">
            <a:avLst/>
          </a:prstGeom>
          <a:solidFill>
            <a:srgbClr val="4C7CF0"/>
          </a:solidFill>
          <a:ln/>
        </p:spPr>
      </p:sp>
      <p:sp>
        <p:nvSpPr>
          <p:cNvPr id="67" name="Shape 57"/>
          <p:cNvSpPr/>
          <p:nvPr/>
        </p:nvSpPr>
        <p:spPr>
          <a:xfrm>
            <a:off x="3390138" y="5577840"/>
            <a:ext cx="2567178" cy="502920"/>
          </a:xfrm>
          <a:prstGeom prst="roundRect">
            <a:avLst>
              <a:gd name="adj" fmla="val 29091"/>
            </a:avLst>
          </a:prstGeom>
          <a:solidFill>
            <a:srgbClr val="132542"/>
          </a:solidFill>
          <a:ln w="9525">
            <a:solidFill>
              <a:srgbClr val="4C7CF0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3390138" y="557784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Replication</a:t>
            </a:r>
            <a:endParaRPr lang="en-US" sz="1050" dirty="0"/>
          </a:p>
        </p:txBody>
      </p:sp>
      <p:sp>
        <p:nvSpPr>
          <p:cNvPr id="69" name="Shape 59"/>
          <p:cNvSpPr/>
          <p:nvPr/>
        </p:nvSpPr>
        <p:spPr>
          <a:xfrm>
            <a:off x="5984748" y="5760720"/>
            <a:ext cx="219456" cy="146304"/>
          </a:xfrm>
          <a:prstGeom prst="rightArrow">
            <a:avLst/>
          </a:prstGeom>
          <a:solidFill>
            <a:srgbClr val="4C7CF0"/>
          </a:solidFill>
          <a:ln/>
        </p:spPr>
      </p:sp>
      <p:sp>
        <p:nvSpPr>
          <p:cNvPr id="70" name="Shape 60"/>
          <p:cNvSpPr/>
          <p:nvPr/>
        </p:nvSpPr>
        <p:spPr>
          <a:xfrm>
            <a:off x="6231636" y="5577840"/>
            <a:ext cx="2567178" cy="502920"/>
          </a:xfrm>
          <a:prstGeom prst="roundRect">
            <a:avLst>
              <a:gd name="adj" fmla="val 29091"/>
            </a:avLst>
          </a:prstGeom>
          <a:solidFill>
            <a:srgbClr val="132542"/>
          </a:solidFill>
          <a:ln w="9525">
            <a:solidFill>
              <a:srgbClr val="4C7CF0"/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6231636" y="557784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Deployment</a:t>
            </a:r>
            <a:endParaRPr lang="en-US" sz="1050" dirty="0"/>
          </a:p>
        </p:txBody>
      </p:sp>
      <p:sp>
        <p:nvSpPr>
          <p:cNvPr id="72" name="Shape 62"/>
          <p:cNvSpPr/>
          <p:nvPr/>
        </p:nvSpPr>
        <p:spPr>
          <a:xfrm>
            <a:off x="8826246" y="5760720"/>
            <a:ext cx="219456" cy="146304"/>
          </a:xfrm>
          <a:prstGeom prst="rightArrow">
            <a:avLst/>
          </a:prstGeom>
          <a:solidFill>
            <a:srgbClr val="4C7CF0"/>
          </a:solidFill>
          <a:ln/>
        </p:spPr>
      </p:sp>
      <p:sp>
        <p:nvSpPr>
          <p:cNvPr id="73" name="Shape 63"/>
          <p:cNvSpPr/>
          <p:nvPr/>
        </p:nvSpPr>
        <p:spPr>
          <a:xfrm>
            <a:off x="9073134" y="5577840"/>
            <a:ext cx="2567178" cy="502920"/>
          </a:xfrm>
          <a:prstGeom prst="roundRect">
            <a:avLst>
              <a:gd name="adj" fmla="val 29091"/>
            </a:avLst>
          </a:prstGeom>
          <a:solidFill>
            <a:srgbClr val="132542"/>
          </a:solidFill>
          <a:ln w="9525">
            <a:solidFill>
              <a:srgbClr val="4C7CF0"/>
            </a:solidFill>
            <a:prstDash val="solid"/>
          </a:ln>
        </p:spPr>
      </p:sp>
      <p:sp>
        <p:nvSpPr>
          <p:cNvPr id="74" name="Text 64"/>
          <p:cNvSpPr txBox="1"/>
          <p:nvPr/>
        </p:nvSpPr>
        <p:spPr>
          <a:xfrm>
            <a:off x="9073134" y="557784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Architecture</a:t>
            </a:r>
            <a:endParaRPr lang="en-US" sz="1050" dirty="0"/>
          </a:p>
        </p:txBody>
      </p:sp>
      <p:sp>
        <p:nvSpPr>
          <p:cNvPr id="75" name="Text 65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/ planned scalability — not already-deployed capability</a:t>
            </a:r>
            <a:endParaRPr lang="en-US" sz="900" dirty="0"/>
          </a:p>
        </p:txBody>
      </p:sp>
      <p:sp>
        <p:nvSpPr>
          <p:cNvPr id="76" name="Text 6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GICVMAP  •  Gujarat Police Innovation Hackathon 2026</a:t>
            </a:r>
            <a:endParaRPr lang="en-US" sz="900" dirty="0"/>
          </a:p>
        </p:txBody>
      </p:sp>
      <p:sp>
        <p:nvSpPr>
          <p:cNvPr id="77" name="Text 6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DE0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931920"/>
            <a:ext cx="5486400" cy="5486400"/>
          </a:xfrm>
          <a:prstGeom prst="ellipse">
            <a:avLst/>
          </a:prstGeom>
          <a:solidFill>
            <a:srgbClr val="4C7CF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37944" y="110642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7544" y="110642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512978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07624" y="512978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52744" y="74066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52744" y="586130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9544" y="293522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5944" y="2935224"/>
            <a:ext cx="164592" cy="164592"/>
          </a:xfrm>
          <a:prstGeom prst="ellipse">
            <a:avLst/>
          </a:prstGeom>
          <a:solidFill>
            <a:srgbClr val="132542"/>
          </a:solidFill>
          <a:ln w="12700">
            <a:solidFill>
              <a:srgbClr val="2DE0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188720"/>
            <a:ext cx="4114800" cy="-365760"/>
          </a:xfrm>
          <a:prstGeom prst="line">
            <a:avLst/>
          </a:prstGeom>
          <a:noFill/>
          <a:ln w="9525">
            <a:solidFill>
              <a:srgbClr val="2DE0FF">
                <a:alpha val="30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6035040" y="822960"/>
            <a:ext cx="4114800" cy="365760"/>
          </a:xfrm>
          <a:prstGeom prst="line">
            <a:avLst/>
          </a:prstGeom>
          <a:noFill/>
          <a:ln w="9525">
            <a:solidFill>
              <a:srgbClr val="2DE0FF">
                <a:alpha val="30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1280160" y="5212080"/>
            <a:ext cx="4754880" cy="731520"/>
          </a:xfrm>
          <a:prstGeom prst="line">
            <a:avLst/>
          </a:prstGeom>
          <a:noFill/>
          <a:ln w="9525">
            <a:solidFill>
              <a:srgbClr val="2DE0FF">
                <a:alpha val="30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6035040" y="5943600"/>
            <a:ext cx="4754880" cy="-731520"/>
          </a:xfrm>
          <a:prstGeom prst="line">
            <a:avLst/>
          </a:prstGeom>
          <a:noFill/>
          <a:ln w="9525">
            <a:solidFill>
              <a:srgbClr val="2DE0FF">
                <a:alpha val="30000"/>
              </a:srgbClr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3764128" y="960120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2DE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64128" y="960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INNOVATION HACKATHON 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0" y="19659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GICVMAP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Integrated CCTV Video Management &amp; Analytics Platform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0" y="336499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2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"See. Think. Act."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61208" y="416052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132542"/>
          </a:solidFill>
          <a:ln w="12700">
            <a:solidFill>
              <a:srgbClr val="FF4D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81248" y="4480560"/>
            <a:ext cx="164592" cy="16459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55568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261208" y="4892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running at: https://localhost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CCTV intelligence for Gujarat Police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2026-09-14T14:42:48Z</dcterms:created>
  <dcterms:modified xsi:type="dcterms:W3CDTF">2026-09-14T14:42:48Z</dcterms:modified>
</cp:coreProperties>
</file>